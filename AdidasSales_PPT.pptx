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Ninad\Desktop\Adidas%20Sale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Ninad\Desktop\Adidas%20Sale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nad\Desktop\Adidas%20Sal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Ninad\Desktop\Adidas%20Sales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Ninad\Desktop\Adidas%20Sales.xlsx" TargetMode="External"/><Relationship Id="rId1" Type="http://schemas.openxmlformats.org/officeDocument/2006/relationships/themeOverride" Target="../theme/themeOverrid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Ninad\Desktop\Adidas%20Sales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Ninad\Desktop\Adidas%20Sale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Ninad\Desktop\Adidas%20Sales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inad\Desktop\Adidas%20Sal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Ninad\Desktop\Adidas%20Sale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inad\Desktop\Adidas%20Sales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C:\Users\Ninad\Desktop\Adidas%20Sa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Sales.xlsx]Profit by Sales Method!PivotTable3</c:name>
    <c:fmtId val="7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'Profit by Sales Method'!$B$1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E58-4D59-95AE-9C8C854F7001}"/>
              </c:ext>
            </c:extLst>
          </c:dPt>
          <c:dPt>
            <c:idx val="1"/>
            <c:bubble3D val="0"/>
            <c:spPr>
              <a:solidFill>
                <a:srgbClr val="0057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E58-4D59-95AE-9C8C854F7001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E58-4D59-95AE-9C8C854F7001}"/>
              </c:ext>
            </c:extLst>
          </c:dPt>
          <c:dLbls>
            <c:dLbl>
              <c:idx val="0"/>
              <c:layout>
                <c:manualLayout>
                  <c:x val="-0.13802080503182321"/>
                  <c:y val="4.8231517359738421E-2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19145"/>
                        <a:gd name="adj2" fmla="val 121237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FE58-4D59-95AE-9C8C854F7001}"/>
                </c:ext>
              </c:extLst>
            </c:dLbl>
            <c:dLbl>
              <c:idx val="1"/>
              <c:layout>
                <c:manualLayout>
                  <c:x val="8.0729150112953049E-2"/>
                  <c:y val="-0.19292606943895352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27274"/>
                        <a:gd name="adj2" fmla="val 10042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FE58-4D59-95AE-9C8C854F7001}"/>
                </c:ext>
              </c:extLst>
            </c:dLbl>
            <c:dLbl>
              <c:idx val="2"/>
              <c:layout>
                <c:manualLayout>
                  <c:x val="0.1171874759704158"/>
                  <c:y val="0.13022509687129363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60403"/>
                        <a:gd name="adj2" fmla="val -88095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FE58-4D59-95AE-9C8C854F700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'Profit by Sales Method'!$A$2:$A$5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'Profit by Sales Method'!$B$2:$B$5</c:f>
              <c:numCache>
                <c:formatCode>General</c:formatCode>
                <c:ptCount val="3"/>
                <c:pt idx="0">
                  <c:v>12759274</c:v>
                </c:pt>
                <c:pt idx="1">
                  <c:v>9655634</c:v>
                </c:pt>
                <c:pt idx="2">
                  <c:v>10743176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58-4D59-95AE-9C8C854F7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Sales.xlsx]Total Sales by Region!PivotTable1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Sales by Region'!$B$1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'Total Sales by Region'!$A$2:$A$7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Southeast</c:v>
                </c:pt>
                <c:pt idx="4">
                  <c:v>West</c:v>
                </c:pt>
              </c:strCache>
            </c:strRef>
          </c:cat>
          <c:val>
            <c:numRef>
              <c:f>'Total Sales by Region'!$B$2:$B$7</c:f>
              <c:numCache>
                <c:formatCode>General</c:formatCode>
                <c:ptCount val="5"/>
                <c:pt idx="0">
                  <c:v>13560070</c:v>
                </c:pt>
                <c:pt idx="1">
                  <c:v>18632487</c:v>
                </c:pt>
                <c:pt idx="2">
                  <c:v>14407736</c:v>
                </c:pt>
                <c:pt idx="3">
                  <c:v>16317146</c:v>
                </c:pt>
                <c:pt idx="4">
                  <c:v>26902628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B0-4684-B49C-FC3386430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93776"/>
        <c:axId val="400992336"/>
      </c:barChart>
      <c:catAx>
        <c:axId val="400993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0992336"/>
        <c:crosses val="autoZero"/>
        <c:auto val="1"/>
        <c:lblAlgn val="ctr"/>
        <c:lblOffset val="100"/>
        <c:noMultiLvlLbl val="0"/>
      </c:catAx>
      <c:valAx>
        <c:axId val="400992336"/>
        <c:scaling>
          <c:orientation val="minMax"/>
          <c:max val="30000000"/>
        </c:scaling>
        <c:delete val="1"/>
        <c:axPos val="l"/>
        <c:numFmt formatCode="General" sourceLinked="1"/>
        <c:majorTickMark val="out"/>
        <c:minorTickMark val="none"/>
        <c:tickLblPos val="nextTo"/>
        <c:crossAx val="400993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[Adidas Sales.xlsx]Units Sold by Product!PivotTable2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'Units Sold by Product'!$B$1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'Units Sold by Product'!$A$2:$A$8</c:f>
              <c:strCache>
                <c:ptCount val="6"/>
                <c:pt idx="0">
                  <c:v>Men Apparel</c:v>
                </c:pt>
                <c:pt idx="1">
                  <c:v>Men Athletic Footwear</c:v>
                </c:pt>
                <c:pt idx="2">
                  <c:v>Men Street Footwear</c:v>
                </c:pt>
                <c:pt idx="3">
                  <c:v>Women Apparel</c:v>
                </c:pt>
                <c:pt idx="4">
                  <c:v>Women Athletic Footwear</c:v>
                </c:pt>
                <c:pt idx="5">
                  <c:v>Women Street Footwear</c:v>
                </c:pt>
              </c:strCache>
            </c:strRef>
          </c:cat>
          <c:val>
            <c:numRef>
              <c:f>'Units Sold by Product'!$B$2:$B$8</c:f>
              <c:numCache>
                <c:formatCode>General</c:formatCode>
                <c:ptCount val="6"/>
                <c:pt idx="0">
                  <c:v>306133</c:v>
                </c:pt>
                <c:pt idx="1">
                  <c:v>434451</c:v>
                </c:pt>
                <c:pt idx="2">
                  <c:v>593320</c:v>
                </c:pt>
                <c:pt idx="3">
                  <c:v>433127</c:v>
                </c:pt>
                <c:pt idx="4">
                  <c:v>317136</c:v>
                </c:pt>
                <c:pt idx="5">
                  <c:v>391444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D-4F6E-A0DF-B3C102A7BE2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232"/>
        <c:axId val="206031952"/>
      </c:barChart>
      <c:catAx>
        <c:axId val="20602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31952"/>
        <c:crosses val="autoZero"/>
        <c:auto val="1"/>
        <c:lblAlgn val="ctr"/>
        <c:lblOffset val="100"/>
        <c:noMultiLvlLbl val="0"/>
      </c:catAx>
      <c:valAx>
        <c:axId val="206031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Sales.xlsx]Sales Trend by Month!PivotTable1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'Sales Trend by Month'!$B$1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'Sales Trend by Month'!$A$2:$A$14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'Sales Trend by Month'!$B$2:$B$14</c:f>
              <c:numCache>
                <c:formatCode>General</c:formatCode>
                <c:ptCount val="12"/>
                <c:pt idx="0">
                  <c:v>8054603</c:v>
                </c:pt>
                <c:pt idx="1">
                  <c:v>6727138</c:v>
                </c:pt>
                <c:pt idx="2">
                  <c:v>7654789</c:v>
                </c:pt>
                <c:pt idx="3">
                  <c:v>7598245</c:v>
                </c:pt>
                <c:pt idx="4">
                  <c:v>7760769</c:v>
                </c:pt>
                <c:pt idx="5">
                  <c:v>8168314</c:v>
                </c:pt>
                <c:pt idx="6">
                  <c:v>7444866</c:v>
                </c:pt>
                <c:pt idx="7">
                  <c:v>7231982</c:v>
                </c:pt>
                <c:pt idx="8">
                  <c:v>7660838</c:v>
                </c:pt>
                <c:pt idx="9">
                  <c:v>7064939</c:v>
                </c:pt>
                <c:pt idx="10">
                  <c:v>7162410</c:v>
                </c:pt>
                <c:pt idx="11">
                  <c:v>7291174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0C-4800-B175-6A91472ED5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38807904"/>
        <c:axId val="1739334752"/>
      </c:barChart>
      <c:catAx>
        <c:axId val="1038807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34752"/>
        <c:crosses val="autoZero"/>
        <c:auto val="1"/>
        <c:lblAlgn val="ctr"/>
        <c:lblOffset val="100"/>
        <c:noMultiLvlLbl val="0"/>
      </c:catAx>
      <c:valAx>
        <c:axId val="1739334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8807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Sales.xlsx]Retailer-wise Sales!PivotTable7</c:name>
    <c:fmtId val="1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'Retailer-wise Sales'!$B$1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'Retailer-wise Sales'!$A$2:$A$8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'Retailer-wise Sales'!$B$2:$B$8</c:f>
              <c:numCache>
                <c:formatCode>General</c:formatCode>
                <c:ptCount val="6"/>
                <c:pt idx="0">
                  <c:v>7769912</c:v>
                </c:pt>
                <c:pt idx="1">
                  <c:v>21989528</c:v>
                </c:pt>
                <c:pt idx="2">
                  <c:v>10211506</c:v>
                </c:pt>
                <c:pt idx="3">
                  <c:v>18188531</c:v>
                </c:pt>
                <c:pt idx="4">
                  <c:v>7455850</c:v>
                </c:pt>
                <c:pt idx="5">
                  <c:v>24204740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0-452E-B151-D893894FC95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712"/>
        <c:axId val="206018512"/>
      </c:barChart>
      <c:catAx>
        <c:axId val="206025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18512"/>
        <c:crosses val="autoZero"/>
        <c:auto val="1"/>
        <c:lblAlgn val="ctr"/>
        <c:lblOffset val="100"/>
        <c:noMultiLvlLbl val="0"/>
      </c:catAx>
      <c:valAx>
        <c:axId val="206018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712"/>
        <c:crosses val="autoZero"/>
        <c:crossBetween val="between"/>
      </c:valAx>
      <c:spPr>
        <a:noFill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Sales.xlsx]Total Sales by Region!PivotTable1</c:name>
    <c:fmtId val="25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Sales by Region'!$B$1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'Total Sales by Region'!$A$2:$A$7</c:f>
              <c:strCache>
                <c:ptCount val="5"/>
                <c:pt idx="0">
                  <c:v>Midwest</c:v>
                </c:pt>
                <c:pt idx="1">
                  <c:v>Northeast</c:v>
                </c:pt>
                <c:pt idx="2">
                  <c:v>South</c:v>
                </c:pt>
                <c:pt idx="3">
                  <c:v>Southeast</c:v>
                </c:pt>
                <c:pt idx="4">
                  <c:v>West</c:v>
                </c:pt>
              </c:strCache>
            </c:strRef>
          </c:cat>
          <c:val>
            <c:numRef>
              <c:f>'Total Sales by Region'!$B$2:$B$7</c:f>
              <c:numCache>
                <c:formatCode>General</c:formatCode>
                <c:ptCount val="5"/>
                <c:pt idx="0">
                  <c:v>13560070</c:v>
                </c:pt>
                <c:pt idx="1">
                  <c:v>18632487</c:v>
                </c:pt>
                <c:pt idx="2">
                  <c:v>14407736</c:v>
                </c:pt>
                <c:pt idx="3">
                  <c:v>16317146</c:v>
                </c:pt>
                <c:pt idx="4">
                  <c:v>26902628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90-4BD6-9400-9EEB30238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93776"/>
        <c:axId val="400992336"/>
      </c:barChart>
      <c:catAx>
        <c:axId val="400993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0992336"/>
        <c:crosses val="autoZero"/>
        <c:auto val="1"/>
        <c:lblAlgn val="ctr"/>
        <c:lblOffset val="100"/>
        <c:noMultiLvlLbl val="0"/>
      </c:catAx>
      <c:valAx>
        <c:axId val="400992336"/>
        <c:scaling>
          <c:orientation val="minMax"/>
          <c:max val="30000000"/>
        </c:scaling>
        <c:delete val="1"/>
        <c:axPos val="l"/>
        <c:numFmt formatCode="General" sourceLinked="1"/>
        <c:majorTickMark val="out"/>
        <c:minorTickMark val="none"/>
        <c:tickLblPos val="nextTo"/>
        <c:crossAx val="400993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Sales.xlsx]Units Sold by Product!PivotTable2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'Units Sold by Product'!$B$1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'Units Sold by Product'!$A$2:$A$8</c:f>
              <c:strCache>
                <c:ptCount val="6"/>
                <c:pt idx="0">
                  <c:v>Men Apparel</c:v>
                </c:pt>
                <c:pt idx="1">
                  <c:v>Men Athletic Footwear</c:v>
                </c:pt>
                <c:pt idx="2">
                  <c:v>Men Street Footwear</c:v>
                </c:pt>
                <c:pt idx="3">
                  <c:v>Women Apparel</c:v>
                </c:pt>
                <c:pt idx="4">
                  <c:v>Women Athletic Footwear</c:v>
                </c:pt>
                <c:pt idx="5">
                  <c:v>Women Street Footwear</c:v>
                </c:pt>
              </c:strCache>
            </c:strRef>
          </c:cat>
          <c:val>
            <c:numRef>
              <c:f>'Units Sold by Product'!$B$2:$B$8</c:f>
              <c:numCache>
                <c:formatCode>General</c:formatCode>
                <c:ptCount val="6"/>
                <c:pt idx="0">
                  <c:v>306133</c:v>
                </c:pt>
                <c:pt idx="1">
                  <c:v>434451</c:v>
                </c:pt>
                <c:pt idx="2">
                  <c:v>593320</c:v>
                </c:pt>
                <c:pt idx="3">
                  <c:v>433127</c:v>
                </c:pt>
                <c:pt idx="4">
                  <c:v>317136</c:v>
                </c:pt>
                <c:pt idx="5">
                  <c:v>391444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E4-4A6A-BE58-DD981D26571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232"/>
        <c:axId val="206031952"/>
      </c:barChart>
      <c:catAx>
        <c:axId val="20602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31952"/>
        <c:crosses val="autoZero"/>
        <c:auto val="1"/>
        <c:lblAlgn val="ctr"/>
        <c:lblOffset val="100"/>
        <c:noMultiLvlLbl val="0"/>
      </c:catAx>
      <c:valAx>
        <c:axId val="206031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Sales.xlsx]Units Sold by Product!PivotTable2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232"/>
        <c:axId val="206031952"/>
      </c:barChart>
      <c:catAx>
        <c:axId val="20602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31952"/>
        <c:crosses val="autoZero"/>
        <c:auto val="1"/>
        <c:lblAlgn val="ctr"/>
        <c:lblOffset val="100"/>
        <c:noMultiLvlLbl val="0"/>
      </c:catAx>
      <c:valAx>
        <c:axId val="206031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[Adidas Sales.xlsx]Profit by Sales Method!PivotTable3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802080503182321"/>
              <c:y val="4.8231517359738421E-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19145"/>
                    <a:gd name="adj2" fmla="val 121237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rgbClr val="0057A0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0729150112953049E-2"/>
              <c:y val="-0.19292606943895352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-127274"/>
                    <a:gd name="adj2" fmla="val 10042"/>
                  </a:avLst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171874759704158"/>
              <c:y val="0.13022509687129363"/>
            </c:manualLayout>
          </c:layout>
          <c:spPr>
            <a:solidFill>
              <a:sysClr val="window" lastClr="FFFFFF"/>
            </a:solidFill>
            <a:ln w="9525" cap="flat" cmpd="sng" algn="ctr">
              <a:solidFill>
                <a:sysClr val="windowText" lastClr="000000">
                  <a:lumMod val="25000"/>
                  <a:lumOff val="75000"/>
                </a:sysClr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>
                    <a:gd name="adj1" fmla="val 60403"/>
                    <a:gd name="adj2" fmla="val -88095"/>
                  </a:avLst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'Profit by Sales Method'!$B$1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D9-49C6-A505-2D8AE2799C8F}"/>
              </c:ext>
            </c:extLst>
          </c:dPt>
          <c:dPt>
            <c:idx val="1"/>
            <c:bubble3D val="0"/>
            <c:spPr>
              <a:solidFill>
                <a:srgbClr val="0057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D9-49C6-A505-2D8AE2799C8F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D9-49C6-A505-2D8AE2799C8F}"/>
              </c:ext>
            </c:extLst>
          </c:dPt>
          <c:dLbls>
            <c:dLbl>
              <c:idx val="0"/>
              <c:layout>
                <c:manualLayout>
                  <c:x val="-0.13802080503182321"/>
                  <c:y val="4.8231517359738421E-2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19145"/>
                        <a:gd name="adj2" fmla="val 121237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73D9-49C6-A505-2D8AE2799C8F}"/>
                </c:ext>
              </c:extLst>
            </c:dLbl>
            <c:dLbl>
              <c:idx val="1"/>
              <c:layout>
                <c:manualLayout>
                  <c:x val="8.0729150112953049E-2"/>
                  <c:y val="-0.19292606943895352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127274"/>
                        <a:gd name="adj2" fmla="val 10042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73D9-49C6-A505-2D8AE2799C8F}"/>
                </c:ext>
              </c:extLst>
            </c:dLbl>
            <c:dLbl>
              <c:idx val="2"/>
              <c:layout>
                <c:manualLayout>
                  <c:x val="0.1171874759704158"/>
                  <c:y val="0.13022509687129363"/>
                </c:manualLayout>
              </c:layout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60403"/>
                        <a:gd name="adj2" fmla="val -88095"/>
                      </a:avLst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73D9-49C6-A505-2D8AE2799C8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'Profit by Sales Method'!$A$2:$A$5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'Profit by Sales Method'!$B$2:$B$5</c:f>
              <c:numCache>
                <c:formatCode>General</c:formatCode>
                <c:ptCount val="3"/>
                <c:pt idx="0">
                  <c:v>12759274</c:v>
                </c:pt>
                <c:pt idx="1">
                  <c:v>9655634</c:v>
                </c:pt>
                <c:pt idx="2">
                  <c:v>10743176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D9-49C6-A505-2D8AE2799C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Sales.xlsx]Units Sold by Product!PivotTable2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232"/>
        <c:axId val="206031952"/>
      </c:barChart>
      <c:catAx>
        <c:axId val="20602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31952"/>
        <c:crosses val="autoZero"/>
        <c:auto val="1"/>
        <c:lblAlgn val="ctr"/>
        <c:lblOffset val="100"/>
        <c:noMultiLvlLbl val="0"/>
      </c:catAx>
      <c:valAx>
        <c:axId val="206031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[Adidas Sales.xlsx]Retailer-wise Sales!PivotTable7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'Retailer-wise Sales'!$B$1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7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'Retailer-wise Sales'!$A$2:$A$8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'Retailer-wise Sales'!$B$2:$B$8</c:f>
              <c:numCache>
                <c:formatCode>General</c:formatCode>
                <c:ptCount val="6"/>
                <c:pt idx="0">
                  <c:v>7769912</c:v>
                </c:pt>
                <c:pt idx="1">
                  <c:v>21989528</c:v>
                </c:pt>
                <c:pt idx="2">
                  <c:v>10211506</c:v>
                </c:pt>
                <c:pt idx="3">
                  <c:v>18188531</c:v>
                </c:pt>
                <c:pt idx="4">
                  <c:v>7455850</c:v>
                </c:pt>
                <c:pt idx="5">
                  <c:v>24204740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EB-40E4-B893-502E17BFD17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712"/>
        <c:axId val="206018512"/>
      </c:barChart>
      <c:catAx>
        <c:axId val="206025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18512"/>
        <c:crosses val="autoZero"/>
        <c:auto val="1"/>
        <c:lblAlgn val="ctr"/>
        <c:lblOffset val="100"/>
        <c:noMultiLvlLbl val="0"/>
      </c:catAx>
      <c:valAx>
        <c:axId val="206018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712"/>
        <c:crosses val="autoZero"/>
        <c:crossBetween val="between"/>
      </c:valAx>
      <c:spPr>
        <a:noFill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[Adidas Sales.xlsx]Units Sold by Product!PivotTable2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57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025232"/>
        <c:axId val="206031952"/>
      </c:barChart>
      <c:catAx>
        <c:axId val="206025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031952"/>
        <c:crosses val="autoZero"/>
        <c:auto val="1"/>
        <c:lblAlgn val="ctr"/>
        <c:lblOffset val="100"/>
        <c:noMultiLvlLbl val="0"/>
      </c:catAx>
      <c:valAx>
        <c:axId val="2060319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602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10BF-30A3-55FE-1F00-2181DD6A7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853B3-5E8C-1CF3-E59A-536AEB03E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06F3-FCBD-C7B0-981C-022610062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672D-31A2-AEA0-BC81-4C242344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A09E-4AE1-755E-198F-88121051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12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2D46-9AF4-CCB0-D989-25942F6A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DEE2E-9894-24A0-C1FB-A91E80EDB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3343-380D-B596-1FC1-D2DA070B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8221-2998-EBA9-001C-3EDA12B1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92DA-DD7A-670E-02C6-25BB1708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02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03E2-F8DF-7C3A-8002-07C700B6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0BD69-79DF-9AAC-2EF1-0CC79F67F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4A006-D1C3-C98A-F6D3-04FC43A6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B513E-F690-52E2-B8E5-3113DD1A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E289C-E6E2-A1D8-F42A-E07D0B38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6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E320-E962-F8C7-46D5-0B9E5800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3C6B-CB2A-DF70-7AAC-550415798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7A304-7F54-5518-54CF-AF5DBD11A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4A7B9-3032-0E2F-B095-4D36A905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E2C0C-ADFD-964B-8E3F-4A058FDE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BEF67-3B44-D99A-3E0D-67E244D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5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78B5-987E-0171-1500-F2F61A01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ACC39-F673-79B3-15AE-F5A640512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9B0EA-5BC1-4167-563C-2A64DE458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53A68-EF91-608D-80DD-386A02540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5DDA0-DDC9-CA30-BCD6-DA9815EAF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DEF64-61D7-0FCF-08AE-CC556F9F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13598-92A2-0AC1-DF1D-FA29E084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74C0C-932B-3984-D126-D7A383C4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5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FDCF-5DA8-BA3B-0966-E3D82E84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69C9B-6F74-0F4A-2DDE-B63DD0D5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A1BC2-826A-3828-D8C0-84A581FB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A8B06-4F66-D193-3861-E5C52F91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49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1F19E-2189-A401-4153-A4CA79EE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59543-D9C6-D61B-580C-6AC5265E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8A632-F130-FF10-919B-E83B26F8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4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C4C9-1EE6-6B08-2A95-DC30D874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7F11-6EB3-3991-CBD6-E04E41636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FA259-F39F-09FE-42AF-1D61DE323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06690-451D-580E-FAF8-79956798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8C95-047E-9CBB-10AA-6A8AE8E4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ECFB1-A19B-228F-6D3C-0E85E5A8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1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5ED3-CD7B-832D-4077-33184D27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A4975-2167-CB25-5197-70A5BE8E2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D3E6E-7A6F-2560-CB0C-B8266FE39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71844-B4EA-B4A0-5E3B-64D1C59C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45006-C8F8-E020-E4EB-F7C1B026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9A1C5-E1EB-8245-4303-974902A3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4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266C-E37A-1732-C2FC-9C9C5424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E63E4-F5F9-AF01-2D9F-375361DF7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4AAD7-A65A-4DA9-255A-674FCB79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37EF-9A55-E40E-E36F-0C86DD64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5343A-BBDB-A64E-3F21-3EECBF58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17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A89A6-0093-A32F-D914-F7A3DCC21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F92D9-CB99-BFD3-17E2-1C4835DBF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E198E-CE4F-C167-A088-F887366C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68044-92B2-6B39-7A3F-47EEC636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9C976-9560-85DD-D06B-DDFC97A3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7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E31C4-2BA9-19F8-ECC3-948564B7A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90AAF-5312-DFAB-839C-9B41748F3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528A1-FB92-AC32-59E3-58C14DAC9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F268E-D1BB-4ECA-B295-8B90FF2433D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3627F-6146-65B0-680A-18F5650E8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CEB4-CF64-4E89-A29D-4F067D37F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30B4C-1C09-4E41-A859-6AB6D36473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0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06C15D-3BA8-EFF4-92BC-CA50E4D27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684" y="549013"/>
            <a:ext cx="6288632" cy="3745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DFFD33-C0EF-B99C-2DA4-102E069DBD46}"/>
              </a:ext>
            </a:extLst>
          </p:cNvPr>
          <p:cNvSpPr txBox="1"/>
          <p:nvPr/>
        </p:nvSpPr>
        <p:spPr>
          <a:xfrm>
            <a:off x="2926080" y="4454761"/>
            <a:ext cx="6339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Rounded MT Bold" panose="020F0704030504030204" pitchFamily="34" charset="0"/>
              </a:rPr>
              <a:t>Adidas Sales Analytics (2020–2021)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0BD4D-80C3-50F5-20F1-799FBC5D0D33}"/>
              </a:ext>
            </a:extLst>
          </p:cNvPr>
          <p:cNvSpPr txBox="1"/>
          <p:nvPr/>
        </p:nvSpPr>
        <p:spPr>
          <a:xfrm>
            <a:off x="2900476" y="5138499"/>
            <a:ext cx="633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Saif Palnaik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80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0BEF79-CD11-7513-2438-32AC7B824582}"/>
              </a:ext>
            </a:extLst>
          </p:cNvPr>
          <p:cNvSpPr/>
          <p:nvPr/>
        </p:nvSpPr>
        <p:spPr>
          <a:xfrm>
            <a:off x="0" y="0"/>
            <a:ext cx="12192000" cy="6860458"/>
          </a:xfrm>
          <a:prstGeom prst="rect">
            <a:avLst/>
          </a:pr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089CB18-DFEE-65C1-A73D-58501BE353CC}"/>
              </a:ext>
            </a:extLst>
          </p:cNvPr>
          <p:cNvSpPr/>
          <p:nvPr/>
        </p:nvSpPr>
        <p:spPr>
          <a:xfrm rot="18956892">
            <a:off x="3693440" y="-2067602"/>
            <a:ext cx="670746" cy="1271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7B08CD-D0C4-BE91-E248-43E8423BA307}"/>
              </a:ext>
            </a:extLst>
          </p:cNvPr>
          <p:cNvSpPr/>
          <p:nvPr/>
        </p:nvSpPr>
        <p:spPr>
          <a:xfrm rot="18956892">
            <a:off x="4137240" y="-2930094"/>
            <a:ext cx="670746" cy="1271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150591-61C0-0C70-7A03-10DDD299538A}"/>
              </a:ext>
            </a:extLst>
          </p:cNvPr>
          <p:cNvSpPr/>
          <p:nvPr/>
        </p:nvSpPr>
        <p:spPr>
          <a:xfrm rot="18956892">
            <a:off x="5204984" y="-3260527"/>
            <a:ext cx="670746" cy="1271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B8AD8-2A9D-2068-5E72-06F64FDAC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4A061C-2A1E-500C-C75B-ABFD7A108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29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Help with solid fill">
            <a:extLst>
              <a:ext uri="{FF2B5EF4-FFF2-40B4-BE49-F238E27FC236}">
                <a16:creationId xmlns:a16="http://schemas.microsoft.com/office/drawing/2014/main" id="{E65D3ADD-1F48-6EF3-7E94-621E468E5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0765" y="1837329"/>
            <a:ext cx="3010468" cy="3010468"/>
          </a:xfrm>
          <a:prstGeom prst="rect">
            <a:avLst/>
          </a:prstGeom>
        </p:spPr>
      </p:pic>
      <p:pic>
        <p:nvPicPr>
          <p:cNvPr id="33" name="Graphic 32" descr="Presentation with bar chart with solid fill">
            <a:extLst>
              <a:ext uri="{FF2B5EF4-FFF2-40B4-BE49-F238E27FC236}">
                <a16:creationId xmlns:a16="http://schemas.microsoft.com/office/drawing/2014/main" id="{7E259A3B-51FB-28F0-7C85-E813E3145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3870" y="2010200"/>
            <a:ext cx="2837597" cy="28375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146E3D1-A5E8-D736-C469-2DD046D878DA}"/>
              </a:ext>
            </a:extLst>
          </p:cNvPr>
          <p:cNvSpPr txBox="1"/>
          <p:nvPr/>
        </p:nvSpPr>
        <p:spPr>
          <a:xfrm>
            <a:off x="1064694" y="5015548"/>
            <a:ext cx="2532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Dashboard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DD38ED-AABA-213C-0FB3-4CE13DB5EDAA}"/>
              </a:ext>
            </a:extLst>
          </p:cNvPr>
          <p:cNvSpPr txBox="1"/>
          <p:nvPr/>
        </p:nvSpPr>
        <p:spPr>
          <a:xfrm>
            <a:off x="4590765" y="5015549"/>
            <a:ext cx="301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Problem Statement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9AC38D-3F33-B4B1-CC73-62ACA01161CA}"/>
              </a:ext>
            </a:extLst>
          </p:cNvPr>
          <p:cNvSpPr txBox="1"/>
          <p:nvPr/>
        </p:nvSpPr>
        <p:spPr>
          <a:xfrm>
            <a:off x="8087434" y="5015548"/>
            <a:ext cx="3010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Insights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pic>
        <p:nvPicPr>
          <p:cNvPr id="38" name="Graphic 37" descr="Monitor with solid fill">
            <a:extLst>
              <a:ext uri="{FF2B5EF4-FFF2-40B4-BE49-F238E27FC236}">
                <a16:creationId xmlns:a16="http://schemas.microsoft.com/office/drawing/2014/main" id="{9EDA7F36-6DFA-CA2C-C454-9925518EA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659" y="2105736"/>
            <a:ext cx="2646527" cy="26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44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B39223-330F-21A0-1A20-942CDEADB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686"/>
            <a:ext cx="12192000" cy="5796628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2BC0808-88C1-4E26-B385-CE110D6AA4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87519"/>
              </p:ext>
            </p:extLst>
          </p:nvPr>
        </p:nvGraphicFramePr>
        <p:xfrm>
          <a:off x="-393405" y="3285460"/>
          <a:ext cx="4561367" cy="2105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B2A830-CBB3-47DC-B9EE-A4A19F984EEA}"/>
              </a:ext>
            </a:extLst>
          </p:cNvPr>
          <p:cNvSpPr/>
          <p:nvPr/>
        </p:nvSpPr>
        <p:spPr>
          <a:xfrm>
            <a:off x="4249445" y="1547801"/>
            <a:ext cx="3719508" cy="1789331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2044EEA6-52F9-4806-8243-34AFA512FE46}"/>
              </a:ext>
            </a:extLst>
          </p:cNvPr>
          <p:cNvSpPr txBox="1"/>
          <p:nvPr/>
        </p:nvSpPr>
        <p:spPr>
          <a:xfrm>
            <a:off x="4383534" y="1590875"/>
            <a:ext cx="2062993" cy="3011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Total</a:t>
            </a:r>
            <a:r>
              <a:rPr lang="en-IN" sz="1200" b="0" baseline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Sales by Region</a:t>
            </a:r>
            <a:endParaRPr lang="en-IN" sz="1100" b="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5AA292D-ABA6-4EB3-8A5C-745642D0D5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8611657"/>
              </p:ext>
            </p:extLst>
          </p:nvPr>
        </p:nvGraphicFramePr>
        <p:xfrm>
          <a:off x="4249445" y="1741437"/>
          <a:ext cx="3774595" cy="1735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202A7A-764B-B95D-1D55-3C1AC1C933AF}"/>
              </a:ext>
            </a:extLst>
          </p:cNvPr>
          <p:cNvSpPr/>
          <p:nvPr/>
        </p:nvSpPr>
        <p:spPr>
          <a:xfrm>
            <a:off x="26398" y="1547801"/>
            <a:ext cx="3761058" cy="1789331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CF8DEA-2E61-4D8B-84BD-640968355F9C}"/>
              </a:ext>
            </a:extLst>
          </p:cNvPr>
          <p:cNvSpPr txBox="1"/>
          <p:nvPr/>
        </p:nvSpPr>
        <p:spPr>
          <a:xfrm>
            <a:off x="81485" y="1590874"/>
            <a:ext cx="2062994" cy="3011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0">
                <a:solidFill>
                  <a:schemeClr val="tx1"/>
                </a:solidFill>
                <a:latin typeface="Arial Rounded MT Bold" panose="020F0704030504030204" pitchFamily="34" charset="0"/>
              </a:rPr>
              <a:t>Units</a:t>
            </a:r>
            <a:r>
              <a:rPr lang="en-IN" sz="1200" b="0" baseline="0">
                <a:solidFill>
                  <a:schemeClr val="tx1"/>
                </a:solidFill>
                <a:latin typeface="Arial Rounded MT Bold" panose="020F0704030504030204" pitchFamily="34" charset="0"/>
              </a:rPr>
              <a:t> Sold by Product</a:t>
            </a:r>
            <a:endParaRPr lang="en-IN" sz="1100" b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80982A21-B7F2-4DBE-B21E-EF0A18266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0379605"/>
              </p:ext>
            </p:extLst>
          </p:nvPr>
        </p:nvGraphicFramePr>
        <p:xfrm>
          <a:off x="0" y="1697434"/>
          <a:ext cx="3559883" cy="173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002C21-521A-783F-511D-62D18A61F0D1}"/>
              </a:ext>
            </a:extLst>
          </p:cNvPr>
          <p:cNvSpPr/>
          <p:nvPr/>
        </p:nvSpPr>
        <p:spPr>
          <a:xfrm>
            <a:off x="4249445" y="3443417"/>
            <a:ext cx="3719508" cy="1789331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FF10D37F-3BDD-41EF-BA32-0E2136EE52D7}"/>
              </a:ext>
            </a:extLst>
          </p:cNvPr>
          <p:cNvSpPr txBox="1"/>
          <p:nvPr/>
        </p:nvSpPr>
        <p:spPr>
          <a:xfrm>
            <a:off x="4416798" y="3448349"/>
            <a:ext cx="2386466" cy="3011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0">
                <a:solidFill>
                  <a:schemeClr val="tx1"/>
                </a:solidFill>
                <a:latin typeface="Arial Rounded MT Bold" panose="020F0704030504030204" pitchFamily="34" charset="0"/>
              </a:rPr>
              <a:t>Sales</a:t>
            </a:r>
            <a:r>
              <a:rPr lang="en-IN" sz="1200" b="0" baseline="0">
                <a:solidFill>
                  <a:schemeClr val="tx1"/>
                </a:solidFill>
                <a:latin typeface="Arial Rounded MT Bold" panose="020F0704030504030204" pitchFamily="34" charset="0"/>
              </a:rPr>
              <a:t> Trend by Month / Year</a:t>
            </a:r>
            <a:endParaRPr lang="en-IN" sz="1100" b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A5BE2464-3DA2-42CF-9F4D-574A7EEBD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4015292"/>
              </p:ext>
            </p:extLst>
          </p:nvPr>
        </p:nvGraphicFramePr>
        <p:xfrm>
          <a:off x="4194357" y="3583335"/>
          <a:ext cx="3774595" cy="1726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EEFF6B-8120-1F9B-15E1-3DDC7D05AEEE}"/>
              </a:ext>
            </a:extLst>
          </p:cNvPr>
          <p:cNvSpPr/>
          <p:nvPr/>
        </p:nvSpPr>
        <p:spPr>
          <a:xfrm>
            <a:off x="8430942" y="1547801"/>
            <a:ext cx="3719508" cy="1789331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FA64A88A-E901-481A-B7F9-86D9C6E87D70}"/>
              </a:ext>
            </a:extLst>
          </p:cNvPr>
          <p:cNvSpPr txBox="1"/>
          <p:nvPr/>
        </p:nvSpPr>
        <p:spPr>
          <a:xfrm>
            <a:off x="8599555" y="1590873"/>
            <a:ext cx="2062994" cy="30112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0">
                <a:solidFill>
                  <a:schemeClr val="tx1"/>
                </a:solidFill>
                <a:latin typeface="Arial Rounded MT Bold" panose="020F0704030504030204" pitchFamily="34" charset="0"/>
              </a:rPr>
              <a:t>Retailer</a:t>
            </a:r>
            <a:r>
              <a:rPr lang="en-IN" sz="1200" b="0" baseline="0">
                <a:solidFill>
                  <a:schemeClr val="tx1"/>
                </a:solidFill>
                <a:latin typeface="Arial Rounded MT Bold" panose="020F0704030504030204" pitchFamily="34" charset="0"/>
              </a:rPr>
              <a:t>-wise Sales</a:t>
            </a:r>
            <a:endParaRPr lang="en-IN" sz="1100" b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32D1D290-CBEE-425B-84CB-1C3F0DD8F7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49695"/>
              </p:ext>
            </p:extLst>
          </p:nvPr>
        </p:nvGraphicFramePr>
        <p:xfrm>
          <a:off x="8430941" y="1697434"/>
          <a:ext cx="3607088" cy="1731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4D2915C9-46E6-CF3F-9352-C22C6109B3C6}"/>
              </a:ext>
            </a:extLst>
          </p:cNvPr>
          <p:cNvSpPr txBox="1"/>
          <p:nvPr/>
        </p:nvSpPr>
        <p:spPr>
          <a:xfrm>
            <a:off x="26398" y="-13799"/>
            <a:ext cx="4086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rial Rounded MT Bold" panose="020F0704030504030204" pitchFamily="34" charset="0"/>
              </a:rPr>
              <a:t>DASHBOARD</a:t>
            </a:r>
            <a:endParaRPr lang="en-IN" sz="2800" b="1" i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616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343F27-A19A-4C35-85B6-5D7D1617C30B}"/>
              </a:ext>
            </a:extLst>
          </p:cNvPr>
          <p:cNvSpPr/>
          <p:nvPr/>
        </p:nvSpPr>
        <p:spPr>
          <a:xfrm>
            <a:off x="474122" y="552893"/>
            <a:ext cx="11243758" cy="372139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C4DB06-2101-AAF4-BC0F-43C3B77B220E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2E2F34-EDD9-35D2-C363-6F033605F89D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DC551-33FF-50B2-2570-4FB6BC3456F8}"/>
              </a:ext>
            </a:extLst>
          </p:cNvPr>
          <p:cNvSpPr txBox="1"/>
          <p:nvPr/>
        </p:nvSpPr>
        <p:spPr>
          <a:xfrm>
            <a:off x="779721" y="1691111"/>
            <a:ext cx="10632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000" dirty="0">
                <a:latin typeface="Arial Rounded MT Bold" panose="020F0704030504030204" pitchFamily="34" charset="0"/>
              </a:rPr>
              <a:t>Which regions have the highest/lowest sales? (How to boost underperforming areas)</a:t>
            </a:r>
          </a:p>
          <a:p>
            <a:pPr fontAlgn="t"/>
            <a:endParaRPr lang="en-US" sz="2000" dirty="0">
              <a:latin typeface="Arial Rounded MT Bold" panose="020F0704030504030204" pitchFamily="34" charset="0"/>
            </a:endParaRPr>
          </a:p>
          <a:p>
            <a:pPr fontAlgn="t"/>
            <a:r>
              <a:rPr lang="en-US" sz="2000" dirty="0">
                <a:latin typeface="Arial Rounded MT Bold" panose="020F0704030504030204" pitchFamily="34" charset="0"/>
              </a:rPr>
              <a:t>Which products sell the most units, and which yield highest profit per unit?</a:t>
            </a:r>
          </a:p>
          <a:p>
            <a:pPr fontAlgn="t"/>
            <a:endParaRPr lang="en-US" sz="2000" dirty="0">
              <a:latin typeface="Arial Rounded MT Bold" panose="020F0704030504030204" pitchFamily="34" charset="0"/>
            </a:endParaRPr>
          </a:p>
          <a:p>
            <a:pPr fontAlgn="t"/>
            <a:r>
              <a:rPr lang="en-US" sz="2000" dirty="0">
                <a:latin typeface="Arial Rounded MT Bold" panose="020F0704030504030204" pitchFamily="34" charset="0"/>
              </a:rPr>
              <a:t>How do sales and profit differ by sales channel (online vs outlet vs in-store)?</a:t>
            </a:r>
          </a:p>
          <a:p>
            <a:pPr fontAlgn="t"/>
            <a:endParaRPr lang="en-US" sz="2000" dirty="0">
              <a:latin typeface="Arial Rounded MT Bold" panose="020F0704030504030204" pitchFamily="34" charset="0"/>
            </a:endParaRPr>
          </a:p>
          <a:p>
            <a:pPr fontAlgn="t"/>
            <a:r>
              <a:rPr lang="en-US" sz="2000" dirty="0">
                <a:latin typeface="Arial Rounded MT Bold" panose="020F0704030504030204" pitchFamily="34" charset="0"/>
              </a:rPr>
              <a:t>What are the seasonal sales trends (month/year) and how can we plan inventory?</a:t>
            </a:r>
          </a:p>
          <a:p>
            <a:pPr fontAlgn="t"/>
            <a:endParaRPr lang="en-US" sz="2000" dirty="0">
              <a:latin typeface="Arial Rounded MT Bold" panose="020F0704030504030204" pitchFamily="34" charset="0"/>
            </a:endParaRPr>
          </a:p>
          <a:p>
            <a:pPr fontAlgn="t"/>
            <a:r>
              <a:rPr lang="en-US" sz="2000" dirty="0">
                <a:latin typeface="Arial Rounded MT Bold" panose="020F0704030504030204" pitchFamily="34" charset="0"/>
              </a:rPr>
              <a:t>Which retailers drive the most sales and which need attention?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C3EF9-6D2A-0EEF-CA03-6CB762703032}"/>
              </a:ext>
            </a:extLst>
          </p:cNvPr>
          <p:cNvSpPr txBox="1"/>
          <p:nvPr/>
        </p:nvSpPr>
        <p:spPr>
          <a:xfrm>
            <a:off x="1378002" y="734495"/>
            <a:ext cx="4086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rial Rounded MT Bold" panose="020F0704030504030204" pitchFamily="34" charset="0"/>
              </a:rPr>
              <a:t>Problem Statements</a:t>
            </a:r>
            <a:endParaRPr lang="en-IN" sz="2800" b="1" i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1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F10C44-3558-C9F7-710C-F38D6A37E01C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BA750B-824B-386D-0E55-F096072D7FA5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0358-88AD-8453-86F5-136B318CAAB6}"/>
              </a:ext>
            </a:extLst>
          </p:cNvPr>
          <p:cNvSpPr txBox="1"/>
          <p:nvPr/>
        </p:nvSpPr>
        <p:spPr>
          <a:xfrm>
            <a:off x="1209454" y="741769"/>
            <a:ext cx="9114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Arial Rounded MT Bold" panose="020F0704030504030204" pitchFamily="34" charset="0"/>
              </a:rPr>
              <a:t>Which regions have the highest/lowest sales?</a:t>
            </a:r>
            <a:endParaRPr lang="en-IN" sz="2800" b="1" i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5AA292D-ABA6-4EB3-8A5C-745642D0D5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487656"/>
              </p:ext>
            </p:extLst>
          </p:nvPr>
        </p:nvGraphicFramePr>
        <p:xfrm>
          <a:off x="765544" y="1080977"/>
          <a:ext cx="10590028" cy="5678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452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1623-DF00-A152-D561-CF8F82C6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D29E42-B968-32C7-DA6F-B011A8160285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ADB591-449B-F21A-9C2E-2F07712F77E4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8641B-C3EF-0075-507C-550423962ECC}"/>
              </a:ext>
            </a:extLst>
          </p:cNvPr>
          <p:cNvSpPr txBox="1"/>
          <p:nvPr/>
        </p:nvSpPr>
        <p:spPr>
          <a:xfrm>
            <a:off x="1209455" y="741770"/>
            <a:ext cx="994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Arial Rounded MT Bold" panose="020F0704030504030204" pitchFamily="34" charset="0"/>
              </a:rPr>
              <a:t>Which products sell the most units?</a:t>
            </a:r>
            <a:endParaRPr lang="en-IN" sz="2800" b="1" i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0982A21-B7F2-4DBE-B21E-EF0A18266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875039"/>
              </p:ext>
            </p:extLst>
          </p:nvPr>
        </p:nvGraphicFramePr>
        <p:xfrm>
          <a:off x="580103" y="1363832"/>
          <a:ext cx="10894142" cy="533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878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FF96-36C7-F694-D776-1BEE5B61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980BB8-4B04-A57C-EC9D-CCC30AFF478E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D119A9-756F-9410-B428-7E50EC940DC6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E41AE-1332-B9F7-6E12-664FFE976A29}"/>
              </a:ext>
            </a:extLst>
          </p:cNvPr>
          <p:cNvSpPr txBox="1"/>
          <p:nvPr/>
        </p:nvSpPr>
        <p:spPr>
          <a:xfrm>
            <a:off x="1209455" y="741770"/>
            <a:ext cx="994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Arial Rounded MT Bold" panose="020F0704030504030204" pitchFamily="34" charset="0"/>
              </a:rPr>
              <a:t>How do sales and profit differ by sales channel ?</a:t>
            </a:r>
            <a:endParaRPr lang="en-IN" sz="2800" b="1" i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0C74C74-2AD6-DC16-0E95-80A633A3C67B}"/>
              </a:ext>
            </a:extLst>
          </p:cNvPr>
          <p:cNvGraphicFramePr>
            <a:graphicFrameLocks/>
          </p:cNvGraphicFramePr>
          <p:nvPr/>
        </p:nvGraphicFramePr>
        <p:xfrm>
          <a:off x="580103" y="1363832"/>
          <a:ext cx="10894142" cy="533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2BC0808-88C1-4E26-B385-CE110D6AA4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0863410"/>
              </p:ext>
            </p:extLst>
          </p:nvPr>
        </p:nvGraphicFramePr>
        <p:xfrm>
          <a:off x="679555" y="1129400"/>
          <a:ext cx="11000126" cy="5801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643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521D-E8A8-0E83-6307-E359B0B22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65D760-BF5F-4905-21C4-6030E701AA52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9ADC4-9361-3FDC-679C-7819A42BDBE2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71A83-B7BF-C5E2-E306-BCE548EAED61}"/>
              </a:ext>
            </a:extLst>
          </p:cNvPr>
          <p:cNvSpPr txBox="1"/>
          <p:nvPr/>
        </p:nvSpPr>
        <p:spPr>
          <a:xfrm>
            <a:off x="1120964" y="772547"/>
            <a:ext cx="1098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latin typeface="Arial Rounded MT Bold" panose="020F0704030504030204" pitchFamily="34" charset="0"/>
              </a:rPr>
              <a:t>Which retailers drive the most sales and which need attention?</a:t>
            </a:r>
            <a:endParaRPr lang="en-IN" sz="2400" b="1" i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45D6F0F-2923-C30A-BE19-E115C2FA045E}"/>
              </a:ext>
            </a:extLst>
          </p:cNvPr>
          <p:cNvGraphicFramePr>
            <a:graphicFrameLocks/>
          </p:cNvGraphicFramePr>
          <p:nvPr/>
        </p:nvGraphicFramePr>
        <p:xfrm>
          <a:off x="580103" y="1363832"/>
          <a:ext cx="10894142" cy="533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D1D290-CBEE-425B-84CB-1C3F0DD8F7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580049"/>
              </p:ext>
            </p:extLst>
          </p:nvPr>
        </p:nvGraphicFramePr>
        <p:xfrm>
          <a:off x="875069" y="1421593"/>
          <a:ext cx="10028903" cy="5117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575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6111-4D92-F2D7-C378-70FF1B9E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981EF8-D241-90B6-6687-385D447D7BB8}"/>
              </a:ext>
            </a:extLst>
          </p:cNvPr>
          <p:cNvSpPr/>
          <p:nvPr/>
        </p:nvSpPr>
        <p:spPr>
          <a:xfrm>
            <a:off x="474120" y="659219"/>
            <a:ext cx="11243758" cy="51178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0F293C-3C64-E83A-99B8-48E95A1FD4B7}"/>
              </a:ext>
            </a:extLst>
          </p:cNvPr>
          <p:cNvSpPr/>
          <p:nvPr/>
        </p:nvSpPr>
        <p:spPr>
          <a:xfrm>
            <a:off x="474121" y="1347539"/>
            <a:ext cx="11243758" cy="526591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89F91-4479-9F1F-A548-0F704160DD9A}"/>
              </a:ext>
            </a:extLst>
          </p:cNvPr>
          <p:cNvSpPr txBox="1"/>
          <p:nvPr/>
        </p:nvSpPr>
        <p:spPr>
          <a:xfrm>
            <a:off x="1120964" y="772547"/>
            <a:ext cx="1098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latin typeface="Arial Rounded MT Bold" panose="020F0704030504030204" pitchFamily="34" charset="0"/>
              </a:rPr>
              <a:t>Conclusion: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18EE641-26DF-083A-8975-8580550BD246}"/>
              </a:ext>
            </a:extLst>
          </p:cNvPr>
          <p:cNvGraphicFramePr>
            <a:graphicFrameLocks/>
          </p:cNvGraphicFramePr>
          <p:nvPr/>
        </p:nvGraphicFramePr>
        <p:xfrm>
          <a:off x="580103" y="1363832"/>
          <a:ext cx="10894142" cy="533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234293-21D7-9EE6-B296-1E310B7A95C7}"/>
              </a:ext>
            </a:extLst>
          </p:cNvPr>
          <p:cNvSpPr txBox="1"/>
          <p:nvPr/>
        </p:nvSpPr>
        <p:spPr>
          <a:xfrm>
            <a:off x="1076675" y="1558145"/>
            <a:ext cx="9900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West region contributes the highest overall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products dominate total units sold — indicating demand concentration.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High-performing retailers drive a major share of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monthly and seasonal sales trends 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methods (online, in-store, outlet) show significant differences in profitability.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53955F-5B05-E7BC-5091-09436DD93E28}"/>
              </a:ext>
            </a:extLst>
          </p:cNvPr>
          <p:cNvSpPr/>
          <p:nvPr/>
        </p:nvSpPr>
        <p:spPr>
          <a:xfrm>
            <a:off x="474120" y="3269603"/>
            <a:ext cx="11243758" cy="334384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C46AA3-FAA1-4F6E-2F87-A1EC77405A54}"/>
              </a:ext>
            </a:extLst>
          </p:cNvPr>
          <p:cNvSpPr/>
          <p:nvPr/>
        </p:nvSpPr>
        <p:spPr>
          <a:xfrm>
            <a:off x="474120" y="3860889"/>
            <a:ext cx="11243758" cy="2768855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F90C5-264B-BE28-C1DC-D588BE462E0B}"/>
              </a:ext>
            </a:extLst>
          </p:cNvPr>
          <p:cNvSpPr txBox="1"/>
          <p:nvPr/>
        </p:nvSpPr>
        <p:spPr>
          <a:xfrm>
            <a:off x="1076675" y="3293128"/>
            <a:ext cx="10982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latin typeface="Arial Rounded MT Bold" panose="020F0704030504030204" pitchFamily="34" charset="0"/>
              </a:rPr>
              <a:t>Recommendations: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CEDA1-908A-53E2-01E5-945140209E08}"/>
              </a:ext>
            </a:extLst>
          </p:cNvPr>
          <p:cNvSpPr txBox="1"/>
          <p:nvPr/>
        </p:nvSpPr>
        <p:spPr>
          <a:xfrm>
            <a:off x="1076674" y="3979245"/>
            <a:ext cx="99009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marketing and inventory on high-performing regions and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pricing strategy for less profitable channels (e.g., outlets).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seasonal campaigns and stock based on sales peak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 profitable sales channels like online where applicable.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partnerships with top retailers based on performance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458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262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ninadbalam@outlook.com</dc:creator>
  <cp:lastModifiedBy>saif palnaik</cp:lastModifiedBy>
  <cp:revision>2</cp:revision>
  <dcterms:created xsi:type="dcterms:W3CDTF">2025-07-25T14:40:42Z</dcterms:created>
  <dcterms:modified xsi:type="dcterms:W3CDTF">2026-07-25T14:30:07Z</dcterms:modified>
</cp:coreProperties>
</file>